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5" autoAdjust="0"/>
    <p:restoredTop sz="91489" autoAdjust="0"/>
  </p:normalViewPr>
  <p:slideViewPr>
    <p:cSldViewPr snapToGrid="0">
      <p:cViewPr varScale="1">
        <p:scale>
          <a:sx n="51" d="100"/>
          <a:sy n="51" d="100"/>
        </p:scale>
        <p:origin x="-8" y="1080"/>
      </p:cViewPr>
      <p:guideLst>
        <p:guide orient="horz" pos="744"/>
        <p:guide pos="288"/>
      </p:guideLst>
    </p:cSldViewPr>
  </p:slideViewPr>
  <p:outlineViewPr>
    <p:cViewPr>
      <p:scale>
        <a:sx n="33" d="100"/>
        <a:sy n="33" d="100"/>
      </p:scale>
      <p:origin x="0" y="-140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33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IN" dirty="0"/>
              <a:t>Stack Overflow Developer Survey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Learner Name 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</a:br>
            <a:r>
              <a:rPr lang="en-IN" dirty="0"/>
              <a:t>Lalitha Devi Seri</a:t>
            </a:r>
            <a:endParaRPr lang="en-US" dirty="0">
              <a:solidFill>
                <a:schemeClr val="bg1">
                  <a:lumMod val="75000"/>
                </a:schemeClr>
              </a:solidFill>
              <a:latin typeface="IBM Plex Mono Medium" panose="020B0609050203000203" pitchFamily="49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585533" cy="492250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/>
              <a:t>Executive Summary</a:t>
            </a:r>
          </a:p>
          <a:p>
            <a:r>
              <a:rPr lang="en-IN" sz="2400" dirty="0"/>
              <a:t>This capstone project </a:t>
            </a:r>
            <a:r>
              <a:rPr lang="en-IN" sz="2400" dirty="0" err="1"/>
              <a:t>analyzes</a:t>
            </a:r>
            <a:r>
              <a:rPr lang="en-IN" sz="2400" dirty="0"/>
              <a:t> technology, programming language, database, job market, and demographic trends using survey and job-posting datasets. </a:t>
            </a:r>
          </a:p>
          <a:p>
            <a:r>
              <a:rPr lang="en-IN" sz="2400" dirty="0"/>
              <a:t>The analysis combines </a:t>
            </a:r>
            <a:r>
              <a:rPr lang="en-IN" sz="2400" b="1" dirty="0"/>
              <a:t>API data, web-scraped data, survey exploration, data cleaning, visualizations, and dashboarding</a:t>
            </a:r>
            <a:r>
              <a:rPr lang="en-IN" sz="2400" dirty="0"/>
              <a:t>. </a:t>
            </a:r>
          </a:p>
          <a:p>
            <a:r>
              <a:rPr lang="en-IN" sz="2400" dirty="0"/>
              <a:t>Python, SQL, JavaScript and similar technologies appear prominently in current demand, while future trend analysis highlights continued demand for modern development tools and databases. </a:t>
            </a:r>
          </a:p>
          <a:p>
            <a:r>
              <a:rPr lang="en-IN" sz="2400" dirty="0"/>
              <a:t>Dashboard analysis helps compare </a:t>
            </a:r>
            <a:r>
              <a:rPr lang="en-IN" sz="2400" b="1" dirty="0"/>
              <a:t>current technology usage, future preferences, and respondent demographics</a:t>
            </a:r>
            <a:r>
              <a:rPr lang="en-IN" sz="2400" dirty="0"/>
              <a:t>. </a:t>
            </a:r>
          </a:p>
          <a:p>
            <a:r>
              <a:rPr lang="en-IN" sz="2400" dirty="0"/>
              <a:t>Overall, the project provides practical insights for </a:t>
            </a:r>
            <a:r>
              <a:rPr lang="en-IN" sz="2400" b="1" dirty="0"/>
              <a:t>students, aspiring data analysts, recruiters, and organizations</a:t>
            </a:r>
            <a:r>
              <a:rPr lang="en-IN" sz="2400" dirty="0"/>
              <a:t> to understand changing technology and job-market patterns. 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900" b="1" dirty="0"/>
              <a:t>Purpose of the report</a:t>
            </a:r>
            <a:endParaRPr lang="en-IN" sz="1900" dirty="0"/>
          </a:p>
          <a:p>
            <a:r>
              <a:rPr lang="en-IN" sz="1900" dirty="0"/>
              <a:t>To </a:t>
            </a:r>
            <a:r>
              <a:rPr lang="en-IN" sz="1900" dirty="0" err="1"/>
              <a:t>analyze</a:t>
            </a:r>
            <a:r>
              <a:rPr lang="en-IN" sz="1900" dirty="0"/>
              <a:t> real-world developer and job-market data using data analytics techniques. </a:t>
            </a:r>
          </a:p>
          <a:p>
            <a:r>
              <a:rPr lang="en-IN" sz="1900" dirty="0"/>
              <a:t>To identify trends in programming languages, databases, salaries, jobs, and demographics. </a:t>
            </a:r>
          </a:p>
          <a:p>
            <a:r>
              <a:rPr lang="en-IN" sz="1900" dirty="0"/>
              <a:t>To present findings using charts and dashboards for easier interpretation. </a:t>
            </a:r>
          </a:p>
          <a:p>
            <a:pPr marL="0" indent="0">
              <a:buNone/>
            </a:pPr>
            <a:r>
              <a:rPr lang="en-IN" sz="1900" b="1" dirty="0"/>
              <a:t>Target audience</a:t>
            </a:r>
            <a:endParaRPr lang="en-IN" sz="1900" dirty="0"/>
          </a:p>
          <a:p>
            <a:r>
              <a:rPr lang="en-IN" sz="1900" dirty="0"/>
              <a:t>Students and aspiring data professionals </a:t>
            </a:r>
          </a:p>
          <a:p>
            <a:r>
              <a:rPr lang="en-IN" sz="1900" dirty="0"/>
              <a:t>Recruiters and hiring managers </a:t>
            </a:r>
          </a:p>
          <a:p>
            <a:r>
              <a:rPr lang="en-IN" sz="1900" dirty="0"/>
              <a:t>Training institutions and educators </a:t>
            </a:r>
          </a:p>
          <a:p>
            <a:r>
              <a:rPr lang="en-IN" sz="1900" dirty="0"/>
              <a:t>Business stakeholders interested in technology trends </a:t>
            </a:r>
          </a:p>
          <a:p>
            <a:pPr marL="0" indent="0">
              <a:buNone/>
            </a:pPr>
            <a:r>
              <a:rPr lang="en-IN" sz="1900" b="1" dirty="0"/>
              <a:t>Value of the analysis</a:t>
            </a:r>
            <a:endParaRPr lang="en-IN" sz="1900" dirty="0"/>
          </a:p>
          <a:p>
            <a:r>
              <a:rPr lang="en-IN" sz="1900" dirty="0"/>
              <a:t>Helps understand current and future technology demand </a:t>
            </a:r>
          </a:p>
          <a:p>
            <a:r>
              <a:rPr lang="en-IN" sz="1900" dirty="0"/>
              <a:t>Supports better career and skill decisions </a:t>
            </a:r>
          </a:p>
          <a:p>
            <a:r>
              <a:rPr lang="en-IN" sz="1900" dirty="0"/>
              <a:t>Converts raw data into actionable insights through dashboards and visualizations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045907" y="1590804"/>
            <a:ext cx="7859655" cy="526719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4000" b="1" dirty="0"/>
              <a:t>Data sources</a:t>
            </a:r>
            <a:endParaRPr lang="en-IN" sz="4000" dirty="0"/>
          </a:p>
          <a:p>
            <a:r>
              <a:rPr lang="en-IN" sz="4000" dirty="0"/>
              <a:t>Job posting data collected using API </a:t>
            </a:r>
          </a:p>
          <a:p>
            <a:r>
              <a:rPr lang="en-IN" sz="4000" dirty="0"/>
              <a:t>Popular language data collected through web scraping </a:t>
            </a:r>
          </a:p>
          <a:p>
            <a:r>
              <a:rPr lang="en-IN" sz="4000" dirty="0"/>
              <a:t>Stack Overflow Developer Survey dataset used for technology and demographic analysis </a:t>
            </a:r>
          </a:p>
          <a:p>
            <a:r>
              <a:rPr lang="en-IN" sz="4000" dirty="0"/>
              <a:t>Dashboard insights created from cleaned survey data </a:t>
            </a:r>
          </a:p>
          <a:p>
            <a:pPr marL="0" indent="0">
              <a:buNone/>
            </a:pPr>
            <a:r>
              <a:rPr lang="en-IN" sz="4000" b="1" dirty="0"/>
              <a:t>Data collection and wrangling</a:t>
            </a:r>
            <a:endParaRPr lang="en-IN" sz="4000" dirty="0"/>
          </a:p>
          <a:p>
            <a:r>
              <a:rPr lang="en-IN" sz="4000" dirty="0"/>
              <a:t>Imported datasets into Python using pandas </a:t>
            </a:r>
          </a:p>
          <a:p>
            <a:r>
              <a:rPr lang="en-IN" sz="4000" dirty="0"/>
              <a:t>Cleaned missing values and duplicate rows </a:t>
            </a:r>
          </a:p>
          <a:p>
            <a:r>
              <a:rPr lang="en-IN" sz="4000" dirty="0"/>
              <a:t>Standardized columns where required </a:t>
            </a:r>
          </a:p>
          <a:p>
            <a:r>
              <a:rPr lang="en-IN" sz="4000" dirty="0"/>
              <a:t>Filtered relevant variables for programming languages, web frameworks, remote work, employment, education, organization size, and developer demographics.</a:t>
            </a:r>
          </a:p>
          <a:p>
            <a:r>
              <a:rPr lang="en-IN" sz="4000" dirty="0"/>
              <a:t>Created summary tables and visualizations for analysis </a:t>
            </a:r>
          </a:p>
          <a:p>
            <a:pPr marL="0" indent="0">
              <a:buNone/>
            </a:pPr>
            <a:r>
              <a:rPr lang="en-IN" sz="4000" b="1" dirty="0"/>
              <a:t>Tools used : </a:t>
            </a:r>
            <a:r>
              <a:rPr lang="en-IN" sz="4000" dirty="0"/>
              <a:t>Python, Pandas , NumPy,  Matplotlib,  Jupyter Notebook, Power BI</a:t>
            </a:r>
            <a:br>
              <a:rPr lang="en-IN" sz="4000" b="1" dirty="0"/>
            </a:br>
            <a:br>
              <a:rPr lang="en-IN" sz="4000" b="1" dirty="0"/>
            </a:b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442447" y="2332328"/>
            <a:ext cx="74133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Programming Languages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JavaScript is the most widely used programming language.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SQL ranks second.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HTML/CSS and TypeScript remain highly popular.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Python is among the top five languages.</a:t>
            </a:r>
          </a:p>
          <a:p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Insights</a:t>
            </a:r>
          </a:p>
          <a:p>
            <a:r>
              <a:rPr lang="en-US"/>
              <a:t>Python and SQL-related roles show strong demand in job postings. </a:t>
            </a:r>
          </a:p>
          <a:p>
            <a:r>
              <a:rPr lang="en-US"/>
              <a:t>Data-focused and software-related technologies appear frequently across listings. </a:t>
            </a:r>
          </a:p>
          <a:p>
            <a:r>
              <a:rPr lang="en-US"/>
              <a:t>The job market indicates sustained demand for technical and analytical skills.</a:t>
            </a: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2B695-C70D-898B-3001-6E14A4C376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57" r="23010"/>
          <a:stretch>
            <a:fillRect/>
          </a:stretch>
        </p:blipFill>
        <p:spPr>
          <a:xfrm>
            <a:off x="6172200" y="1600200"/>
            <a:ext cx="5181600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/>
              <a:t>Insights</a:t>
            </a:r>
          </a:p>
          <a:p>
            <a:r>
              <a:rPr lang="en-US" sz="2600"/>
              <a:t>Some programming languages command significantly higher salaries than others. </a:t>
            </a:r>
          </a:p>
          <a:p>
            <a:r>
              <a:rPr lang="en-US" sz="2600"/>
              <a:t>Popularity and salary do not always move together; niche or enterprise technologies may pay more. </a:t>
            </a:r>
          </a:p>
          <a:p>
            <a:r>
              <a:rPr lang="en-US" sz="2600"/>
              <a:t>Salary comparison helps identify languages with stronger earning potential.</a:t>
            </a:r>
          </a:p>
          <a:p>
            <a:endParaRPr lang="en-US" sz="2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0A9AB6-6892-0DAC-30DF-42CD3C24E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344674"/>
            <a:ext cx="5181600" cy="3083052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PROGRAMMING LANGUAGE TRENDS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5258A6-074C-746C-E4EB-C565FEB708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60" r="19490" b="-1"/>
          <a:stretch>
            <a:fillRect/>
          </a:stretch>
        </p:blipFill>
        <p:spPr>
          <a:xfrm>
            <a:off x="838200" y="1600200"/>
            <a:ext cx="5181600" cy="4572000"/>
          </a:xfrm>
          <a:prstGeom prst="rect">
            <a:avLst/>
          </a:prstGeom>
          <a:noFill/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262626"/>
                </a:solidFill>
                <a:latin typeface="IBM Plex Sans" panose="020B0503050203000203" pitchFamily="34" charset="0"/>
              </a:rPr>
              <a:t>Key Trends</a:t>
            </a:r>
          </a:p>
          <a:p>
            <a:r>
              <a:rPr lang="en-US" sz="2400">
                <a:solidFill>
                  <a:srgbClr val="262626"/>
                </a:solidFill>
                <a:latin typeface="IBM Plex Sans" panose="020B0503050203000203" pitchFamily="34" charset="0"/>
              </a:rPr>
              <a:t>A few core languages remain highly popular in both current and future usage trends. </a:t>
            </a:r>
          </a:p>
          <a:p>
            <a:r>
              <a:rPr lang="en-US" sz="2400">
                <a:solidFill>
                  <a:srgbClr val="262626"/>
                </a:solidFill>
                <a:latin typeface="IBM Plex Sans" panose="020B0503050203000203" pitchFamily="34" charset="0"/>
              </a:rPr>
              <a:t>Languages used for data, web development, and automation continue to dominate. </a:t>
            </a:r>
          </a:p>
          <a:p>
            <a:r>
              <a:rPr lang="en-US" sz="2400">
                <a:solidFill>
                  <a:srgbClr val="262626"/>
                </a:solidFill>
                <a:latin typeface="IBM Plex Sans" panose="020B0503050203000203" pitchFamily="34" charset="0"/>
              </a:rPr>
              <a:t>The next-year trend suggests that developers are likely to continue investing in modern, versatile programming languages.</a:t>
            </a:r>
          </a:p>
          <a:p>
            <a:endParaRPr lang="en-US" sz="240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Findings</a:t>
            </a:r>
          </a:p>
          <a:p>
            <a:r>
              <a:rPr lang="en-IN" dirty="0"/>
              <a:t>Programming language demand is concentrated around a small group of widely used languages. </a:t>
            </a:r>
          </a:p>
          <a:p>
            <a:r>
              <a:rPr lang="en-IN" dirty="0"/>
              <a:t>Languages associated with data analysis, backend development, and web development show continued relevance. </a:t>
            </a:r>
          </a:p>
          <a:p>
            <a:r>
              <a:rPr lang="en-IN" dirty="0"/>
              <a:t>Future preference trends are broadly aligned with current usage, suggesting stability in core technologies.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Implications</a:t>
            </a:r>
          </a:p>
          <a:p>
            <a:r>
              <a:rPr lang="en-IN" dirty="0"/>
              <a:t>Learners should prioritize high-demand, widely adopted languages. </a:t>
            </a:r>
          </a:p>
          <a:p>
            <a:r>
              <a:rPr lang="en-IN" dirty="0"/>
              <a:t>Employers can focus hiring and training efforts around technologies with long-term relevance. </a:t>
            </a:r>
          </a:p>
          <a:p>
            <a:r>
              <a:rPr lang="en-IN" dirty="0"/>
              <a:t>Institutions can align curriculum with languages showing both current and future demand.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21BA475-80B6-2A83-998E-5A08D479F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0384" y="2677439"/>
            <a:ext cx="5615836" cy="3519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900" b="1" dirty="0"/>
              <a:t>Key Trends</a:t>
            </a:r>
          </a:p>
          <a:p>
            <a:r>
              <a:rPr lang="en-IN" sz="1900" dirty="0"/>
              <a:t>Relational databases continue to play a major role in current usage. </a:t>
            </a:r>
          </a:p>
          <a:p>
            <a:r>
              <a:rPr lang="en-IN" sz="1900" dirty="0"/>
              <a:t>Future trends indicate continued interest in both traditional SQL databases and modern scalable database tools. </a:t>
            </a:r>
          </a:p>
          <a:p>
            <a:r>
              <a:rPr lang="en-IN" sz="1900" dirty="0"/>
              <a:t>Database demand reflects the need for both structured analytics and application development.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10E3E8-2ECF-CE7F-60EE-33CE78F32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34" y="1548296"/>
            <a:ext cx="5644852" cy="33321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Findings</a:t>
            </a:r>
          </a:p>
          <a:p>
            <a:r>
              <a:rPr lang="en-IN" dirty="0"/>
              <a:t>SQL-based databases remain central to developer and analytics workflows. </a:t>
            </a:r>
          </a:p>
          <a:p>
            <a:r>
              <a:rPr lang="en-IN" dirty="0"/>
              <a:t>A few major database systems dominate both current use and future interest. </a:t>
            </a:r>
          </a:p>
          <a:p>
            <a:r>
              <a:rPr lang="en-IN" dirty="0"/>
              <a:t>Database preferences indicate a mix of enterprise stability and interest in modern platforms.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Implications</a:t>
            </a:r>
          </a:p>
          <a:p>
            <a:r>
              <a:rPr lang="en-IN" dirty="0"/>
              <a:t>Database skills remain highly valuable for analytics and development careers. </a:t>
            </a:r>
          </a:p>
          <a:p>
            <a:r>
              <a:rPr lang="en-IN" dirty="0"/>
              <a:t>Learners should build strong SQL fundamentals while staying aware of emerging database tools. </a:t>
            </a:r>
          </a:p>
          <a:p>
            <a:r>
              <a:rPr lang="en-IN" dirty="0"/>
              <a:t>Organizations should continue investing in database technologies that balance reliability, scalability, and developer demand.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525803" y="2503382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/>
              <a:t>Dashboard Overview</a:t>
            </a:r>
          </a:p>
          <a:p>
            <a:r>
              <a:rPr lang="en-IN" sz="2400" dirty="0"/>
              <a:t>The dashboard was created to summarize the capstone analysis across three key areas:</a:t>
            </a:r>
          </a:p>
          <a:p>
            <a:pPr marL="0" indent="0">
              <a:buNone/>
            </a:pPr>
            <a:r>
              <a:rPr lang="en-IN" sz="2400" b="1" dirty="0"/>
              <a:t>Current Technology Usage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b="1" dirty="0"/>
              <a:t>Future Technology Trends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b="1" dirty="0"/>
              <a:t>Demographics</a:t>
            </a:r>
            <a:r>
              <a:rPr lang="en-IN" sz="2400" dirty="0"/>
              <a:t> </a:t>
            </a:r>
          </a:p>
          <a:p>
            <a:r>
              <a:rPr lang="en-IN" sz="2400" dirty="0"/>
              <a:t>It allows users to visually explore technology adoption, future preferences, and respondent characteristics.</a:t>
            </a:r>
          </a:p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862CC7-F722-CA66-A214-46CFD4DE9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05" y="2503382"/>
            <a:ext cx="3938711" cy="22292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Dashboard Insight</a:t>
            </a:r>
          </a:p>
          <a:p>
            <a:r>
              <a:rPr lang="en-IN" dirty="0"/>
              <a:t>This dashboard tab highlights the technologies currently used by respondents. </a:t>
            </a:r>
          </a:p>
          <a:p>
            <a:r>
              <a:rPr lang="en-IN" dirty="0"/>
              <a:t>It helps identify the most common programming languages, databases, and platforms in present-day use. </a:t>
            </a:r>
          </a:p>
          <a:p>
            <a:r>
              <a:rPr lang="en-IN" dirty="0"/>
              <a:t>The results show where current developer demand and familiarity are concentrated.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Dashboard Insight</a:t>
            </a:r>
          </a:p>
          <a:p>
            <a:r>
              <a:rPr lang="en-IN" dirty="0"/>
              <a:t>This tab focuses on technologies respondents want to work with in the future. </a:t>
            </a:r>
          </a:p>
          <a:p>
            <a:r>
              <a:rPr lang="en-IN" dirty="0"/>
              <a:t>It helps compare current usage with future interest to identify upcoming trends. </a:t>
            </a:r>
          </a:p>
          <a:p>
            <a:r>
              <a:rPr lang="en-IN" dirty="0"/>
              <a:t>The analysis shows which tools and technologies may gain continued relevance over time.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Dashboard Insight</a:t>
            </a:r>
          </a:p>
          <a:p>
            <a:r>
              <a:rPr lang="en-IN" dirty="0"/>
              <a:t>This tab summarizes respondent demographics such as age, work experience, work arrangement, and related characteristics. </a:t>
            </a:r>
          </a:p>
          <a:p>
            <a:r>
              <a:rPr lang="en-IN" dirty="0"/>
              <a:t>It provides context for understanding who the respondents are and how demographic patterns relate to technology preferences. </a:t>
            </a:r>
          </a:p>
          <a:p>
            <a:r>
              <a:rPr lang="en-IN" dirty="0"/>
              <a:t>Demographic analysis improves interpretation of the broader findings.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97643" y="1825625"/>
            <a:ext cx="7601875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Discussion</a:t>
            </a:r>
          </a:p>
          <a:p>
            <a:r>
              <a:rPr lang="en-IN" dirty="0"/>
              <a:t>The dashboard and chart analysis together provide a broader picture of technology usage, future preferences, and workforce characteristics. </a:t>
            </a:r>
          </a:p>
          <a:p>
            <a:r>
              <a:rPr lang="en-IN" dirty="0"/>
              <a:t>Current technology trends highlight established tools that remain important in the market. </a:t>
            </a:r>
          </a:p>
          <a:p>
            <a:r>
              <a:rPr lang="en-IN" dirty="0"/>
              <a:t>Future trends suggest that developers continue to value adaptable, in-demand technologies.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Power BI dashboards improved data exploration by allowing interactive filtering and visualization of developer survey responses.</a:t>
            </a:r>
          </a:p>
          <a:p>
            <a:r>
              <a:rPr lang="en-IN" dirty="0"/>
              <a:t>Demographic analysis adds context by showing how respondent background and work characteristics shape the dataset. </a:t>
            </a:r>
          </a:p>
          <a:p>
            <a:r>
              <a:rPr lang="en-IN" dirty="0"/>
              <a:t>Overall, the capstone demonstrates how multiple data sources can be combined to generate practical business and career insights.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Findings</a:t>
            </a:r>
          </a:p>
          <a:p>
            <a:r>
              <a:rPr lang="en-IN" dirty="0"/>
              <a:t>Technology demand is concentrated around a set of core programming languages and databases. </a:t>
            </a:r>
          </a:p>
          <a:p>
            <a:r>
              <a:rPr lang="en-IN" dirty="0"/>
              <a:t>Job posting and salary analyses show that technical skills continue to be strongly valued in the </a:t>
            </a:r>
            <a:r>
              <a:rPr lang="en-IN" dirty="0" err="1"/>
              <a:t>labor</a:t>
            </a:r>
            <a:r>
              <a:rPr lang="en-IN" dirty="0"/>
              <a:t> market. </a:t>
            </a:r>
          </a:p>
          <a:p>
            <a:r>
              <a:rPr lang="en-IN" dirty="0"/>
              <a:t>Dashboard insights reveal a connection between current technology use, future interest, and respondent demographics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Implications</a:t>
            </a:r>
          </a:p>
          <a:p>
            <a:r>
              <a:rPr lang="en-IN" dirty="0"/>
              <a:t>Students and job seekers should focus on high-demand technical skills with strong market relevance. </a:t>
            </a:r>
          </a:p>
          <a:p>
            <a:r>
              <a:rPr lang="en-IN" dirty="0"/>
              <a:t>Employers and recruiters can use these insights to understand skill demand and workforce preferences. </a:t>
            </a:r>
          </a:p>
          <a:p>
            <a:r>
              <a:rPr lang="en-IN" dirty="0"/>
              <a:t>Training institutions can use trend analysis to improve curriculum alignment with industry needs. 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180328" y="1825624"/>
            <a:ext cx="6980362" cy="4825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b="1" dirty="0"/>
              <a:t>Conclusion</a:t>
            </a:r>
          </a:p>
          <a:p>
            <a:pPr marL="0" indent="0">
              <a:buNone/>
            </a:pPr>
            <a:r>
              <a:rPr lang="en-IN" sz="1800" dirty="0" err="1">
                <a:solidFill>
                  <a:srgbClr val="FFFFFF"/>
                </a:solidFill>
                <a:latin typeface="-apple-system-body"/>
              </a:rPr>
              <a:t>t</a:t>
            </a:r>
            <a:r>
              <a:rPr lang="en-IN" sz="1800" dirty="0" err="1"/>
              <a:t>The</a:t>
            </a:r>
            <a:r>
              <a:rPr lang="en-IN" sz="1800" dirty="0"/>
              <a:t> capstone project successfully combined data collection, cleaning, analysis, visualization, and dashboard creation. </a:t>
            </a:r>
          </a:p>
          <a:p>
            <a:r>
              <a:rPr lang="en-IN" sz="1800" dirty="0"/>
              <a:t>The findings highlight important trends in programming languages, databases, job demand, and developer demographics. </a:t>
            </a:r>
          </a:p>
          <a:p>
            <a:r>
              <a:rPr lang="en-IN" sz="1800" dirty="0"/>
              <a:t>Visualizations and the interactive </a:t>
            </a:r>
            <a:r>
              <a:rPr lang="en-IN" sz="1800" b="1" dirty="0"/>
              <a:t>Power BI dashboard</a:t>
            </a:r>
            <a:r>
              <a:rPr lang="en-IN" sz="1800" dirty="0"/>
              <a:t> made it easier to interpret complex data and communicate results clearly. </a:t>
            </a:r>
          </a:p>
          <a:p>
            <a:r>
              <a:rPr lang="en-IN" sz="1800" dirty="0"/>
              <a:t>The use of </a:t>
            </a:r>
            <a:r>
              <a:rPr lang="en-IN" sz="1800" b="1" dirty="0"/>
              <a:t>Python</a:t>
            </a:r>
            <a:r>
              <a:rPr lang="en-IN" sz="1800" dirty="0"/>
              <a:t> and </a:t>
            </a:r>
            <a:r>
              <a:rPr lang="en-IN" sz="1800" b="1" dirty="0"/>
              <a:t>Power BI</a:t>
            </a:r>
            <a:r>
              <a:rPr lang="en-IN" sz="1800" dirty="0"/>
              <a:t> enabled effective analysis and visualization of the </a:t>
            </a:r>
            <a:r>
              <a:rPr lang="en-IN" sz="1800" b="1" dirty="0"/>
              <a:t>Stack Overflow Developer Survey</a:t>
            </a:r>
            <a:r>
              <a:rPr lang="en-IN" sz="1800" dirty="0"/>
              <a:t> dataset. </a:t>
            </a:r>
          </a:p>
          <a:p>
            <a:r>
              <a:rPr lang="en-IN" sz="1800" dirty="0"/>
              <a:t>Overall, the project demonstrates the practical value of data analysis in supporting technology and career decision-making. </a:t>
            </a:r>
          </a:p>
          <a:p>
            <a:endParaRPr lang="en-IN" sz="1800" dirty="0">
              <a:solidFill>
                <a:srgbClr val="FFFFFF"/>
              </a:solidFill>
              <a:latin typeface="-apple-system-body"/>
            </a:endParaRPr>
          </a:p>
          <a:p>
            <a:r>
              <a:rPr lang="en-IN" sz="1800" dirty="0">
                <a:solidFill>
                  <a:srgbClr val="FFFFFF"/>
                </a:solidFill>
                <a:latin typeface="-apple-system-body"/>
              </a:rPr>
              <a:t>he use of Python and Power BI enabled effective analysis and visualization of the Stack Overflow Developer Survey dataset.</a:t>
            </a:r>
            <a:endParaRPr lang="en-IN" sz="1800" dirty="0"/>
          </a:p>
          <a:p>
            <a:pPr marL="0" indent="0">
              <a:buNone/>
            </a:pP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5383582" y="1955604"/>
            <a:ext cx="6606436" cy="2946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extra job chart </a:t>
            </a:r>
          </a:p>
          <a:p>
            <a:r>
              <a:rPr lang="en-IN" dirty="0"/>
              <a:t>extra language chart </a:t>
            </a:r>
          </a:p>
          <a:p>
            <a:r>
              <a:rPr lang="en-IN" dirty="0"/>
              <a:t>extra database chart </a:t>
            </a:r>
          </a:p>
          <a:p>
            <a:r>
              <a:rPr lang="en-IN" dirty="0"/>
              <a:t>any additional dashboard screenshots </a:t>
            </a:r>
          </a:p>
          <a:p>
            <a:r>
              <a:rPr lang="en-IN" dirty="0"/>
              <a:t>notes if needed 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213DF2-1BD8-3204-3913-C0067FE5ED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592084" y="4497792"/>
            <a:ext cx="4526068" cy="2166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D3E13-ECDC-B3E1-B06A-EE611427E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891" y="4497792"/>
            <a:ext cx="4251405" cy="21666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63555C-1794-6B48-6B04-C1184B0D73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03" y="1611587"/>
            <a:ext cx="4544403" cy="25721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1249</Words>
  <Application>Microsoft Office PowerPoint</Application>
  <PresentationFormat>Widescreen</PresentationFormat>
  <Paragraphs>146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-apple-system-body</vt:lpstr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Stack Overflow Developer Survey Analysis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Seri Lalitha Devi</cp:lastModifiedBy>
  <cp:revision>8</cp:revision>
  <dcterms:created xsi:type="dcterms:W3CDTF">2024-10-30T05:40:03Z</dcterms:created>
  <dcterms:modified xsi:type="dcterms:W3CDTF">2026-06-28T16:27:54Z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